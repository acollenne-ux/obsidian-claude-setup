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914400"/>
            <a:ext cx="5486400" cy="5486400"/>
          </a:xfrm>
          <a:prstGeom prst="ellipse">
            <a:avLst/>
          </a:prstGeom>
          <a:solidFill>
            <a:srgbClr val="710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4572000"/>
            <a:ext cx="2743200" cy="274320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82296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A1A2E"/>
                </a:solidFill>
                <a:latin typeface="Calibri"/>
              </a:rPr>
              <a:t>[pitch_deck]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474720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94F78"/>
                </a:solidFill>
                <a:latin typeface="Calibri"/>
              </a:rPr>
              <a:t>Template — 15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1005840"/>
          </a:xfrm>
          <a:prstGeom prst="rect">
            <a:avLst/>
          </a:prstGeom>
          <a:solidFill>
            <a:srgbClr val="F3E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7106EE"/>
                </a:solidFill>
                <a:latin typeface="Calibri"/>
              </a:rPr>
              <a:t>[2/15] Problème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42415"/>
            <a:ext cx="10058400" cy="1828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515600" cy="9144"/>
          </a:xfrm>
          <a:prstGeom prst="rect">
            <a:avLst/>
          </a:prstGeom>
          <a:solidFill>
            <a:srgbClr val="59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4F78"/>
                </a:solidFill>
                <a:latin typeface="Calibri"/>
              </a:rPr>
              <a:t>2/15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94F78"/>
                </a:solidFill>
                <a:latin typeface="Calibri"/>
              </a:rPr>
              <a:t>CONFIDENTIEL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1005840"/>
          </a:xfrm>
          <a:prstGeom prst="rect">
            <a:avLst/>
          </a:prstGeom>
          <a:solidFill>
            <a:srgbClr val="F3E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7106EE"/>
                </a:solidFill>
                <a:latin typeface="Calibri"/>
              </a:rPr>
              <a:t>[3/15]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42415"/>
            <a:ext cx="10058400" cy="1828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515600" cy="9144"/>
          </a:xfrm>
          <a:prstGeom prst="rect">
            <a:avLst/>
          </a:prstGeom>
          <a:solidFill>
            <a:srgbClr val="59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4F78"/>
                </a:solidFill>
                <a:latin typeface="Calibri"/>
              </a:rPr>
              <a:t>3/15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94F78"/>
                </a:solidFill>
                <a:latin typeface="Calibri"/>
              </a:rPr>
              <a:t>CONFIDENTIEL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1005840"/>
          </a:xfrm>
          <a:prstGeom prst="rect">
            <a:avLst/>
          </a:prstGeom>
          <a:solidFill>
            <a:srgbClr val="F3E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7106EE"/>
                </a:solidFill>
                <a:latin typeface="Calibri"/>
              </a:rPr>
              <a:t>[4/15] Marché (TAM/SAM/SOM)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42415"/>
            <a:ext cx="10058400" cy="1828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515600" cy="9144"/>
          </a:xfrm>
          <a:prstGeom prst="rect">
            <a:avLst/>
          </a:prstGeom>
          <a:solidFill>
            <a:srgbClr val="59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4F78"/>
                </a:solidFill>
                <a:latin typeface="Calibri"/>
              </a:rPr>
              <a:t>4/15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94F78"/>
                </a:solidFill>
                <a:latin typeface="Calibri"/>
              </a:rPr>
              <a:t>CONFIDENTIEL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1005840"/>
          </a:xfrm>
          <a:prstGeom prst="rect">
            <a:avLst/>
          </a:prstGeom>
          <a:solidFill>
            <a:srgbClr val="F3E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7106EE"/>
                </a:solidFill>
                <a:latin typeface="Calibri"/>
              </a:rPr>
              <a:t>[5/15] Produit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42415"/>
            <a:ext cx="10058400" cy="1828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515600" cy="9144"/>
          </a:xfrm>
          <a:prstGeom prst="rect">
            <a:avLst/>
          </a:prstGeom>
          <a:solidFill>
            <a:srgbClr val="59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4F78"/>
                </a:solidFill>
                <a:latin typeface="Calibri"/>
              </a:rPr>
              <a:t>5/15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94F78"/>
                </a:solidFill>
                <a:latin typeface="Calibri"/>
              </a:rPr>
              <a:t>CONFIDENTIEL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1005840"/>
          </a:xfrm>
          <a:prstGeom prst="rect">
            <a:avLst/>
          </a:prstGeom>
          <a:solidFill>
            <a:srgbClr val="F3E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7106EE"/>
                </a:solidFill>
                <a:latin typeface="Calibri"/>
              </a:rPr>
              <a:t>[6/15] Traction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42415"/>
            <a:ext cx="10058400" cy="1828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515600" cy="9144"/>
          </a:xfrm>
          <a:prstGeom prst="rect">
            <a:avLst/>
          </a:prstGeom>
          <a:solidFill>
            <a:srgbClr val="59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4F78"/>
                </a:solidFill>
                <a:latin typeface="Calibri"/>
              </a:rPr>
              <a:t>6/15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94F78"/>
                </a:solidFill>
                <a:latin typeface="Calibri"/>
              </a:rPr>
              <a:t>CONFIDENTIEL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1005840"/>
          </a:xfrm>
          <a:prstGeom prst="rect">
            <a:avLst/>
          </a:prstGeom>
          <a:solidFill>
            <a:srgbClr val="F3E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7106EE"/>
                </a:solidFill>
                <a:latin typeface="Calibri"/>
              </a:rPr>
              <a:t>[7/15] Business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42415"/>
            <a:ext cx="10058400" cy="1828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515600" cy="9144"/>
          </a:xfrm>
          <a:prstGeom prst="rect">
            <a:avLst/>
          </a:prstGeom>
          <a:solidFill>
            <a:srgbClr val="59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4F78"/>
                </a:solidFill>
                <a:latin typeface="Calibri"/>
              </a:rPr>
              <a:t>7/15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94F78"/>
                </a:solidFill>
                <a:latin typeface="Calibri"/>
              </a:rPr>
              <a:t>CONFIDENTIEL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1005840"/>
          </a:xfrm>
          <a:prstGeom prst="rect">
            <a:avLst/>
          </a:prstGeom>
          <a:solidFill>
            <a:srgbClr val="F3E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7106EE"/>
                </a:solidFill>
                <a:latin typeface="Calibri"/>
              </a:rPr>
              <a:t>[8/15] GTM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42415"/>
            <a:ext cx="10058400" cy="1828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515600" cy="9144"/>
          </a:xfrm>
          <a:prstGeom prst="rect">
            <a:avLst/>
          </a:prstGeom>
          <a:solidFill>
            <a:srgbClr val="59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4F78"/>
                </a:solidFill>
                <a:latin typeface="Calibri"/>
              </a:rPr>
              <a:t>8/15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94F78"/>
                </a:solidFill>
                <a:latin typeface="Calibri"/>
              </a:rPr>
              <a:t>CONFIDENTIEL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1005840"/>
          </a:xfrm>
          <a:prstGeom prst="rect">
            <a:avLst/>
          </a:prstGeom>
          <a:solidFill>
            <a:srgbClr val="F3E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7106EE"/>
                </a:solidFill>
                <a:latin typeface="Calibri"/>
              </a:rPr>
              <a:t>[9/15] Compétition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42415"/>
            <a:ext cx="10058400" cy="1828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515600" cy="9144"/>
          </a:xfrm>
          <a:prstGeom prst="rect">
            <a:avLst/>
          </a:prstGeom>
          <a:solidFill>
            <a:srgbClr val="59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4F78"/>
                </a:solidFill>
                <a:latin typeface="Calibri"/>
              </a:rPr>
              <a:t>9/15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94F78"/>
                </a:solidFill>
                <a:latin typeface="Calibri"/>
              </a:rPr>
              <a:t>CONFIDENTIEL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1005840"/>
          </a:xfrm>
          <a:prstGeom prst="rect">
            <a:avLst/>
          </a:prstGeom>
          <a:solidFill>
            <a:srgbClr val="F3E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7106EE"/>
                </a:solidFill>
                <a:latin typeface="Calibri"/>
              </a:rPr>
              <a:t>[10/15] Équipe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42415"/>
            <a:ext cx="10058400" cy="1828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515600" cy="9144"/>
          </a:xfrm>
          <a:prstGeom prst="rect">
            <a:avLst/>
          </a:prstGeom>
          <a:solidFill>
            <a:srgbClr val="59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4F78"/>
                </a:solidFill>
                <a:latin typeface="Calibri"/>
              </a:rPr>
              <a:t>10/15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94F78"/>
                </a:solidFill>
                <a:latin typeface="Calibri"/>
              </a:rPr>
              <a:t>CONFIDENTIEL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1005840"/>
          </a:xfrm>
          <a:prstGeom prst="rect">
            <a:avLst/>
          </a:prstGeom>
          <a:solidFill>
            <a:srgbClr val="F3E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7106EE"/>
                </a:solidFill>
                <a:latin typeface="Calibri"/>
              </a:rPr>
              <a:t>[11/15]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42415"/>
            <a:ext cx="10058400" cy="1828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515600" cy="9144"/>
          </a:xfrm>
          <a:prstGeom prst="rect">
            <a:avLst/>
          </a:prstGeom>
          <a:solidFill>
            <a:srgbClr val="59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4F78"/>
                </a:solidFill>
                <a:latin typeface="Calibri"/>
              </a:rPr>
              <a:t>11/15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94F78"/>
                </a:solidFill>
                <a:latin typeface="Calibri"/>
              </a:rPr>
              <a:t>CONFIDENTIEL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1005840"/>
          </a:xfrm>
          <a:prstGeom prst="rect">
            <a:avLst/>
          </a:prstGeom>
          <a:solidFill>
            <a:srgbClr val="F3E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7106EE"/>
                </a:solidFill>
                <a:latin typeface="Calibri"/>
              </a:rPr>
              <a:t>[12/15] Financials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42415"/>
            <a:ext cx="10058400" cy="1828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515600" cy="9144"/>
          </a:xfrm>
          <a:prstGeom prst="rect">
            <a:avLst/>
          </a:prstGeom>
          <a:solidFill>
            <a:srgbClr val="59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4F78"/>
                </a:solidFill>
                <a:latin typeface="Calibri"/>
              </a:rPr>
              <a:t>12/15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94F78"/>
                </a:solidFill>
                <a:latin typeface="Calibri"/>
              </a:rPr>
              <a:t>CONFIDENTIEL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1005840"/>
          </a:xfrm>
          <a:prstGeom prst="rect">
            <a:avLst/>
          </a:prstGeom>
          <a:solidFill>
            <a:srgbClr val="F3E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7106EE"/>
                </a:solidFill>
                <a:latin typeface="Calibri"/>
              </a:rPr>
              <a:t>[13/15] 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42415"/>
            <a:ext cx="10058400" cy="1828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515600" cy="9144"/>
          </a:xfrm>
          <a:prstGeom prst="rect">
            <a:avLst/>
          </a:prstGeom>
          <a:solidFill>
            <a:srgbClr val="59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4F78"/>
                </a:solidFill>
                <a:latin typeface="Calibri"/>
              </a:rPr>
              <a:t>13/15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94F78"/>
                </a:solidFill>
                <a:latin typeface="Calibri"/>
              </a:rPr>
              <a:t>CONFIDENTIEL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1005840"/>
          </a:xfrm>
          <a:prstGeom prst="rect">
            <a:avLst/>
          </a:prstGeom>
          <a:solidFill>
            <a:srgbClr val="F3E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7106EE"/>
                </a:solidFill>
                <a:latin typeface="Calibri"/>
              </a:rPr>
              <a:t>[14/15] Use of funds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42415"/>
            <a:ext cx="10058400" cy="1828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515600" cy="9144"/>
          </a:xfrm>
          <a:prstGeom prst="rect">
            <a:avLst/>
          </a:prstGeom>
          <a:solidFill>
            <a:srgbClr val="59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4F78"/>
                </a:solidFill>
                <a:latin typeface="Calibri"/>
              </a:rPr>
              <a:t>14/15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94F78"/>
                </a:solidFill>
                <a:latin typeface="Calibri"/>
              </a:rPr>
              <a:t>CONFIDENTIEL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1005840"/>
          </a:xfrm>
          <a:prstGeom prst="rect">
            <a:avLst/>
          </a:prstGeom>
          <a:solidFill>
            <a:srgbClr val="F3E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7106EE"/>
                </a:solidFill>
                <a:latin typeface="Calibri"/>
              </a:rPr>
              <a:t>[15/15] Contact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42415"/>
            <a:ext cx="10058400" cy="1828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515600" cy="9144"/>
          </a:xfrm>
          <a:prstGeom prst="rect">
            <a:avLst/>
          </a:prstGeom>
          <a:solidFill>
            <a:srgbClr val="59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4F78"/>
                </a:solidFill>
                <a:latin typeface="Calibri"/>
              </a:rPr>
              <a:t>15/15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94F78"/>
                </a:solidFill>
                <a:latin typeface="Calibri"/>
              </a:rPr>
              <a:t>CONFIDENTIEL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